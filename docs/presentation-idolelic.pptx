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83E8C"/>
                </a:solidFill>
                <a:latin typeface="Yu Gothic UI"/>
              </a:rPr>
              <a:t>01 /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Yu Gothic UI"/>
              </a:rPr>
              <a:t>聖地巡礼をしながら健康になれる推し活アプリ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6583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1A1A1A"/>
                </a:solidFill>
                <a:latin typeface="Yu Gothic UI"/>
              </a:rPr>
              <a:t>✓ 推しへの熱量を歩行へ：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C5C5C"/>
                </a:solidFill>
                <a:latin typeface="Yu Gothic UI"/>
              </a:rPr>
              <a:t>楽しんでいるうちに自然と歩数が伸び、運動不足を解消する聖地巡礼マップアプリ。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1A1A1A"/>
                </a:solidFill>
                <a:latin typeface="Yu Gothic UI"/>
              </a:rPr>
              <a:t>✓ コンセプトの進化：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C5C5C"/>
                </a:solidFill>
                <a:latin typeface="Yu Gothic UI"/>
              </a:rPr>
              <a:t>「今推し」だけでなく、時代を築いたアイドルの聖地を忘れないアーカイブとしても設計。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1A1A1A"/>
                </a:solidFill>
                <a:latin typeface="Yu Gothic UI"/>
              </a:rPr>
              <a:t>✓ いま動いていること：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C5C5C"/>
                </a:solidFill>
                <a:latin typeface="Yu Gothic UI"/>
              </a:rPr>
              <a:t>公式聖地65件の地図、MV埋め込み再生、アプリ内ナビ＋歩数、Supabase認証・オーナー管理まで実装済み。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029200"/>
            <a:ext cx="2816352" cy="310896"/>
          </a:xfrm>
          <a:prstGeom prst="roundRect">
            <a:avLst/>
          </a:prstGeom>
          <a:solidFill>
            <a:srgbClr val="FF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C2185B"/>
                </a:solidFill>
                <a:latin typeface="Yu Gothic UI"/>
              </a:rPr>
              <a:t>アプリ名: Idolelic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5029200"/>
            <a:ext cx="3621024" cy="310896"/>
          </a:xfrm>
          <a:prstGeom prst="roundRect">
            <a:avLst/>
          </a:prstGeom>
          <a:solidFill>
            <a:srgbClr val="FF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C2185B"/>
                </a:solidFill>
                <a:latin typeface="Yu Gothic UI"/>
              </a:rPr>
              <a:t>旧称 / リポジトリ: osimap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59752" y="5029200"/>
            <a:ext cx="1609344" cy="310896"/>
          </a:xfrm>
          <a:prstGeom prst="round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9D6A"/>
                </a:solidFill>
                <a:latin typeface="Yu Gothic UI"/>
              </a:rPr>
              <a:t>MVP ほぼ完成</a:t>
            </a:r>
          </a:p>
        </p:txBody>
      </p:sp>
      <p:pic>
        <p:nvPicPr>
          <p:cNvPr id="8" name="Picture 7" descr="home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4023360" cy="86999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89520" y="58064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C5C5C"/>
                </a:solidFill>
                <a:latin typeface="Yu Gothic UI"/>
              </a:rPr>
              <a:t>実機画面：聖地マップ（公式65件）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C5C5C"/>
                </a:solidFill>
                <a:latin typeface="Yu Gothic UI"/>
              </a:rPr>
              <a:t>Idolelic ピッチプレゼンテーション　　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83E8C"/>
                </a:solidFill>
                <a:latin typeface="Yu Gothic UI"/>
              </a:rPr>
              <a:t>02 / PROBLEM &amp;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Yu Gothic UI"/>
              </a:rPr>
              <a:t>オタクの不健康問題と、46兆円の壁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6400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1A1A1A"/>
                </a:solidFill>
                <a:latin typeface="Yu Gothic UI"/>
              </a:rPr>
              <a:t>✓ 深刻なオタクの運動不足：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C5C5C"/>
                </a:solidFill>
                <a:latin typeface="Yu Gothic UI"/>
              </a:rPr>
              <a:t>自宅での配信視聴など推し活の室内化により、生活習慣病リスクが高まっている。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1A1A1A"/>
                </a:solidFill>
                <a:latin typeface="Yu Gothic UI"/>
              </a:rPr>
              <a:t>✓ 社会課題としての医療費：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C5C5C"/>
                </a:solidFill>
                <a:latin typeface="Yu Gothic UI"/>
              </a:rPr>
              <a:t>日本の年間国民医療費は約46兆円規模。予防医療・行動変容が急務。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1A1A1A"/>
                </a:solidFill>
                <a:latin typeface="Yu Gothic UI"/>
              </a:rPr>
              <a:t>✓ 巡礼の手間：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C5C5C"/>
                </a:solidFill>
                <a:latin typeface="Yu Gothic UI"/>
              </a:rPr>
              <a:t>毎回サイトを横断し Google Maps に手作業でピン留めするハードルが高い。聖地情報が散逸しやすい。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029200"/>
            <a:ext cx="2816352" cy="310896"/>
          </a:xfrm>
          <a:prstGeom prst="roundRect">
            <a:avLst/>
          </a:prstGeom>
          <a:solidFill>
            <a:srgbClr val="FF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C2185B"/>
                </a:solidFill>
                <a:latin typeface="Yu Gothic UI"/>
              </a:rPr>
              <a:t>⚠ 医療費抑制へのアプローチ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5029200"/>
            <a:ext cx="2816352" cy="310896"/>
          </a:xfrm>
          <a:prstGeom prst="roundRect">
            <a:avLst/>
          </a:prstGeom>
          <a:solidFill>
            <a:srgbClr val="FF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C2185B"/>
                </a:solidFill>
                <a:latin typeface="Yu Gothic UI"/>
              </a:rPr>
              <a:t>聖地アーカイブ × 歩行習慣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417320"/>
            <a:ext cx="4297680" cy="3840480"/>
          </a:xfrm>
          <a:prstGeom prst="roundRect">
            <a:avLst/>
          </a:prstGeom>
          <a:solidFill>
            <a:srgbClr val="FF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169164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E83E8C"/>
                </a:solidFill>
                <a:latin typeface="Yu Gothic UI"/>
              </a:rPr>
              <a:t>46兆円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606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185B"/>
                </a:solidFill>
                <a:latin typeface="Yu Gothic UI"/>
              </a:rPr>
              <a:t>日本の年間国民医療費（規模感）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310896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  <a:latin typeface="Yu Gothic UI"/>
              </a:rPr>
              <a:t>「推しに会いに行く」「お気に入りの場所を歩く」というオタク心理からアプローチする、画期的な行動変容。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  <a:latin typeface="Yu Gothic UI"/>
              </a:rPr>
              <a:t>Idolelic は“歩く理由”を聖地巡礼に置き、継続しやすい健康習慣をつくる。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C5C5C"/>
                </a:solidFill>
                <a:latin typeface="Yu Gothic UI"/>
              </a:rPr>
              <a:t>Idolelic ピッチプレゼンテーション　　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83E8C"/>
                </a:solidFill>
                <a:latin typeface="Yu Gothic UI"/>
              </a:rPr>
              <a:t>03 / CORE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Yu Gothic UI"/>
              </a:rPr>
              <a:t>不正を排除する、判定ロジックの信頼性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6400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1A1A1A"/>
                </a:solidFill>
                <a:latin typeface="Yu Gothic UI"/>
              </a:rPr>
              <a:t>✓ 時速10km/h未満の制限：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C5C5C"/>
                </a:solidFill>
                <a:latin typeface="Yu Gothic UI"/>
              </a:rPr>
              <a:t>自転車・電車などの乗り物移動を検知し、有効歩数への加算をブロック。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1A1A1A"/>
                </a:solidFill>
                <a:latin typeface="Yu Gothic UI"/>
              </a:rPr>
              <a:t>✓ 5区間移動平均の実装：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C5C5C"/>
                </a:solidFill>
                <a:latin typeface="Yu Gothic UI"/>
              </a:rPr>
              <a:t>GPSのジャンプノイズを除外し、安定した徒歩距離のみを計測。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1A1A1A"/>
                </a:solidFill>
                <a:latin typeface="Yu Gothic UI"/>
              </a:rPr>
              <a:t>✓ 歩数×GPS整合チェック：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C5C5C"/>
                </a:solidFill>
                <a:latin typeface="Yu Gothic UI"/>
              </a:rPr>
              <a:t>加速度センサーの生歩数とGPS移動距離を照合。振り子疑い・乗り物時は除外／上限キャップ。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029200"/>
            <a:ext cx="3017520" cy="310896"/>
          </a:xfrm>
          <a:prstGeom prst="round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9D6A"/>
                </a:solidFill>
                <a:latin typeface="Yu Gothic UI"/>
              </a:rPr>
              <a:t>単体テスト通過（Vitest）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30168" y="5029200"/>
            <a:ext cx="1810512" cy="310896"/>
          </a:xfrm>
          <a:prstGeom prst="roundRect">
            <a:avLst/>
          </a:prstGeom>
          <a:solidFill>
            <a:srgbClr val="FF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C2185B"/>
                </a:solidFill>
                <a:latin typeface="Yu Gothic UI"/>
              </a:rPr>
              <a:t>徒歩判定バリデータ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50408" y="5029200"/>
            <a:ext cx="2615184" cy="310896"/>
          </a:xfrm>
          <a:prstGeom prst="roundRect">
            <a:avLst/>
          </a:prstGeom>
          <a:solidFill>
            <a:srgbClr val="FF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C2185B"/>
                </a:solidFill>
                <a:latin typeface="Yu Gothic UI"/>
              </a:rPr>
              <a:t>実機 HTTPS 検証済み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417320"/>
            <a:ext cx="4297680" cy="36576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16002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Yu Gothic UI"/>
              </a:rPr>
              <a:t>GPS Lab / 速度フィルタ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14884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FFFFFF"/>
                </a:solidFill>
                <a:latin typeface="Yu Gothic UI"/>
              </a:rPr>
              <a:t>閾値　　10 km/h 未満 = 徒歩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FFFFFF"/>
                </a:solidFill>
                <a:latin typeface="Yu Gothic UI"/>
              </a:rPr>
              <a:t>判定　　徒歩（有効）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FFFFFF"/>
                </a:solidFill>
                <a:latin typeface="Yu Gothic UI"/>
              </a:rPr>
              <a:t>瞬間速度　0.0 km/h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FFFFFF"/>
                </a:solidFill>
                <a:latin typeface="Yu Gothic UI"/>
              </a:rPr>
              <a:t>移動平均　0.0 km/h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FFFFFF"/>
                </a:solidFill>
                <a:latin typeface="Yu Gothic UI"/>
              </a:rPr>
              <a:t>生歩数 / 有効歩数　照合中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FFFFFF"/>
                </a:solidFill>
                <a:latin typeface="Yu Gothic UI"/>
              </a:rPr>
              <a:t>状態　　データ収集中…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C5C5C"/>
                </a:solidFill>
                <a:latin typeface="Yu Gothic UI"/>
              </a:rPr>
              <a:t>Idolelic ピッチプレゼンテーション　　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83E8C"/>
                </a:solidFill>
                <a:latin typeface="Yu Gothic UI"/>
              </a:rPr>
              <a:t>04 / APPLICATION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Yu Gothic UI"/>
              </a:rPr>
              <a:t>オタクに寄り添う、実用的なUX設計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1A1A1A"/>
                </a:solidFill>
                <a:latin typeface="Yu Gothic UI"/>
              </a:rPr>
              <a:t>✓ 実データ聖地マップ：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C5C5C"/>
                </a:solidFill>
                <a:latin typeface="Yu Gothic UI"/>
              </a:rPr>
              <a:t>12グループ・公式65件の MV ロケ地を登録。グループ／カテゴリ／地方フィルタ、YouTube MV 埋め込み再生。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1A1A1A"/>
                </a:solidFill>
                <a:latin typeface="Yu Gothic UI"/>
              </a:rPr>
              <a:t>✓ 巡礼ナビと歩数：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C5C5C"/>
                </a:solidFill>
                <a:latin typeface="Yu Gothic UI"/>
              </a:rPr>
              <a:t>アプリ内徒歩ナビ（OSRM）と Google Maps 連携。GPS×加速度の有効歩数計測で歩きながら記録。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1A1A1A"/>
                </a:solidFill>
                <a:latin typeface="Yu Gothic UI"/>
              </a:rPr>
              <a:t>✓ みんなで残す基盤：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C5C5C"/>
                </a:solidFill>
                <a:latin typeface="Yu Gothic UI"/>
              </a:rPr>
              <a:t>住所→座標のジオコーディング、Supabase 認証・聖地永続化、オーナーによるデータ管理画面。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029200"/>
            <a:ext cx="1280160" cy="310896"/>
          </a:xfrm>
          <a:prstGeom prst="roundRect">
            <a:avLst/>
          </a:prstGeom>
          <a:solidFill>
            <a:srgbClr val="FF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C2185B"/>
                </a:solidFill>
                <a:latin typeface="Yu Gothic UI"/>
              </a:rPr>
              <a:t>MV埋め込み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92808" y="5029200"/>
            <a:ext cx="1280160" cy="310896"/>
          </a:xfrm>
          <a:prstGeom prst="roundRect">
            <a:avLst/>
          </a:prstGeom>
          <a:solidFill>
            <a:srgbClr val="FF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C2185B"/>
                </a:solidFill>
                <a:latin typeface="Yu Gothic UI"/>
              </a:rPr>
              <a:t>アプリ内ナビ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82696" y="5029200"/>
            <a:ext cx="1810512" cy="310896"/>
          </a:xfrm>
          <a:prstGeom prst="round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9D6A"/>
                </a:solidFill>
                <a:latin typeface="Yu Gothic UI"/>
              </a:rPr>
              <a:t>公式65件シード済</a:t>
            </a:r>
          </a:p>
        </p:txBody>
      </p:sp>
      <p:pic>
        <p:nvPicPr>
          <p:cNvPr id="8" name="Picture 7" descr="spot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325880"/>
            <a:ext cx="2148840" cy="4727448"/>
          </a:xfrm>
          <a:prstGeom prst="rect">
            <a:avLst/>
          </a:prstGeom>
        </p:spPr>
      </p:pic>
      <p:pic>
        <p:nvPicPr>
          <p:cNvPr id="9" name="Picture 8" descr="regi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1325880"/>
            <a:ext cx="2148840" cy="46665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06640" y="539496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C5C5C"/>
                </a:solidFill>
                <a:latin typeface="Yu Gothic UI"/>
              </a:rPr>
              <a:t>聖地詳細・案内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539496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C5C5C"/>
                </a:solidFill>
                <a:latin typeface="Yu Gothic UI"/>
              </a:rPr>
              <a:t>聖地登録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C5C5C"/>
                </a:solidFill>
                <a:latin typeface="Yu Gothic UI"/>
              </a:rPr>
              <a:t>Idolelic ピッチプレゼンテーション　　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83E8C"/>
                </a:solidFill>
                <a:latin typeface="Yu Gothic UI"/>
              </a:rPr>
              <a:t>05 / PROGRESS &amp; 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Yu Gothic UI"/>
              </a:rPr>
              <a:t>現在の進捗と、使用技術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2468880" cy="2286000"/>
          </a:xfrm>
          <a:prstGeom prst="roundRect">
            <a:avLst/>
          </a:prstGeom>
          <a:solidFill>
            <a:srgbClr val="F7F7F8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9D6A"/>
                </a:solidFill>
                <a:latin typeface="Yu Gothic UI"/>
              </a:rPr>
              <a:t>完了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Yu Gothic UI"/>
              </a:rPr>
              <a:t>・GPS・歩数コア／実機検証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Yu Gothic UI"/>
              </a:rPr>
              <a:t>・地図・詳細・MV埋め込み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Yu Gothic UI"/>
              </a:rPr>
              <a:t>・ナビ・聖地登録・掲示板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Yu Gothic UI"/>
              </a:rPr>
              <a:t>・本番公開（Vercel）・Auth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1371600"/>
            <a:ext cx="2468880" cy="2286000"/>
          </a:xfrm>
          <a:prstGeom prst="roundRect">
            <a:avLst/>
          </a:prstGeom>
          <a:solidFill>
            <a:srgbClr val="F7F7F8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6120" y="14813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83E8C"/>
                </a:solidFill>
                <a:latin typeface="Yu Gothic UI"/>
              </a:rPr>
              <a:t>いま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783080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Yu Gothic UI"/>
              </a:rPr>
              <a:t>・仲いい人に配布中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Yu Gothic UI"/>
              </a:rPr>
              <a:t>・使ってもらい意見を獲得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Yu Gothic UI"/>
              </a:rPr>
              <a:t>・改善ポイントの洗い出し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0" y="1371600"/>
            <a:ext cx="2468880" cy="2286000"/>
          </a:xfrm>
          <a:prstGeom prst="roundRect">
            <a:avLst/>
          </a:prstGeom>
          <a:solidFill>
            <a:srgbClr val="F7F7F8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14813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2185B"/>
                </a:solidFill>
                <a:latin typeface="Yu Gothic UI"/>
              </a:rPr>
              <a:t>TGSまで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783080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Yu Gothic UI"/>
              </a:rPr>
              <a:t>・意見をもとに改善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Yu Gothic UI"/>
              </a:rPr>
              <a:t>・発表に向けて仕上げ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Yu Gothic UI"/>
              </a:rPr>
              <a:t>・TGSで発表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840480"/>
            <a:ext cx="3749039" cy="1828800"/>
          </a:xfrm>
          <a:prstGeom prst="roundRect">
            <a:avLst/>
          </a:prstGeom>
          <a:solidFill>
            <a:srgbClr val="F7F7F8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950208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83E8C"/>
                </a:solidFill>
                <a:latin typeface="Yu Gothic UI"/>
              </a:rPr>
              <a:t>Tech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51960"/>
            <a:ext cx="347471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Yu Gothic UI"/>
              </a:rPr>
              <a:t>Next.js 16 / React 19 — App Router・API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Yu Gothic UI"/>
              </a:rPr>
              <a:t>Supabase / Leaflet — Auth・聖地DB・地図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Yu Gothic UI"/>
              </a:rPr>
              <a:t>Geolocation / 加速度 — 歩数照合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Yu Gothic UI"/>
              </a:rPr>
              <a:t>OSRM / YouTube / Vitest — ナビ・MV・テスト</a:t>
            </a:r>
          </a:p>
        </p:txBody>
      </p:sp>
      <p:pic>
        <p:nvPicPr>
          <p:cNvPr id="16" name="Picture 15" descr="my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0"/>
            <a:ext cx="3291840" cy="721482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21040" y="58064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C5C5C"/>
                </a:solidFill>
                <a:latin typeface="Yu Gothic UI"/>
              </a:rPr>
              <a:t>実機画面：マイページ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C5C5C"/>
                </a:solidFill>
                <a:latin typeface="Yu Gothic UI"/>
              </a:rPr>
              <a:t>Idolelic ピッチプレゼンテーション　　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83E8C"/>
                </a:solidFill>
                <a:latin typeface="Yu Gothic UI"/>
              </a:rPr>
              <a:t>06 / PERFORMANCE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Yu Gothic UI"/>
              </a:rPr>
              <a:t>スケジュール比較：以前の予定と、いまの進捗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C5C5C"/>
                </a:solidFill>
                <a:latin typeface="Yu Gothic UI"/>
              </a:rPr>
              <a:t>以前は本番公開のあと夏休みで一般公開予定。いまは本番まで完了し、知人配布で意見収集→TGS発表へ。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C5C5C"/>
                </a:solidFill>
                <a:latin typeface="Yu Gothic UI"/>
              </a:rPr>
              <a:t>以前の予定スケジュール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783080"/>
            <a:ext cx="2148840" cy="1691640"/>
          </a:xfrm>
          <a:prstGeom prst="roundRect">
            <a:avLst/>
          </a:prstGeom>
          <a:solidFill>
            <a:srgbClr val="F7F7F8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92808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9D6A"/>
                </a:solidFill>
                <a:latin typeface="Yu Gothic UI"/>
              </a:rPr>
              <a:t>1. 機能追加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1874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Yu Gothic UI"/>
              </a:rPr>
              <a:t>コア歩数計＆マップ実装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1783080"/>
            <a:ext cx="2148840" cy="1691640"/>
          </a:xfrm>
          <a:prstGeom prst="roundRect">
            <a:avLst/>
          </a:prstGeom>
          <a:solidFill>
            <a:srgbClr val="F7F7F8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892808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9D6A"/>
                </a:solidFill>
                <a:latin typeface="Yu Gothic UI"/>
              </a:rPr>
              <a:t>2. 実機検証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194560"/>
            <a:ext cx="1874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Yu Gothic UI"/>
              </a:rPr>
              <a:t>HTTPSでGPS/歩数確認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80" y="1783080"/>
            <a:ext cx="2148840" cy="1691640"/>
          </a:xfrm>
          <a:prstGeom prst="roundRect">
            <a:avLst/>
          </a:prstGeom>
          <a:solidFill>
            <a:srgbClr val="F7F7F8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1892808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9D6A"/>
                </a:solidFill>
                <a:latin typeface="Yu Gothic UI"/>
              </a:rPr>
              <a:t>3. MVP実装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194560"/>
            <a:ext cx="1874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Yu Gothic UI"/>
              </a:rPr>
              <a:t>聖地・MV・ナビ・Auth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1783080"/>
            <a:ext cx="2148840" cy="1691640"/>
          </a:xfrm>
          <a:prstGeom prst="roundRect">
            <a:avLst/>
          </a:prstGeom>
          <a:solidFill>
            <a:srgbClr val="F7F7F8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1892808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C5C5C"/>
                </a:solidFill>
                <a:latin typeface="Yu Gothic UI"/>
              </a:rPr>
              <a:t>4. 本番公開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194560"/>
            <a:ext cx="1874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Yu Gothic UI"/>
              </a:rPr>
              <a:t>Vercelと通し確認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55480" y="1783080"/>
            <a:ext cx="2148840" cy="1691640"/>
          </a:xfrm>
          <a:prstGeom prst="roundRect">
            <a:avLst/>
          </a:prstGeom>
          <a:solidFill>
            <a:srgbClr val="F7F7F8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1892808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C5C5C"/>
                </a:solidFill>
                <a:latin typeface="Yu Gothic UI"/>
              </a:rPr>
              <a:t>5. 夏休み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2194560"/>
            <a:ext cx="1874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Yu Gothic UI"/>
              </a:rPr>
              <a:t>一般公開・獲得・掲示板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70332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83E8C"/>
                </a:solidFill>
                <a:latin typeface="Yu Gothic UI"/>
              </a:rPr>
              <a:t>いまの進捗スケジュール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4023360"/>
            <a:ext cx="1828800" cy="1600200"/>
          </a:xfrm>
          <a:prstGeom prst="roundRect">
            <a:avLst/>
          </a:prstGeom>
          <a:solidFill>
            <a:srgbClr val="F7F7F8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1330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9D6A"/>
                </a:solidFill>
                <a:latin typeface="Yu Gothic UI"/>
              </a:rPr>
              <a:t>1. 機能追加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43484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Yu Gothic UI"/>
              </a:rPr>
              <a:t>基本実装完了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0" y="4023360"/>
            <a:ext cx="1828800" cy="1600200"/>
          </a:xfrm>
          <a:prstGeom prst="roundRect">
            <a:avLst/>
          </a:prstGeom>
          <a:solidFill>
            <a:srgbClr val="F7F7F8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23160" y="41330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9D6A"/>
                </a:solidFill>
                <a:latin typeface="Yu Gothic UI"/>
              </a:rPr>
              <a:t>2. 実機検証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443484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Yu Gothic UI"/>
              </a:rPr>
              <a:t>GPS/歩数確認済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60" y="4023360"/>
            <a:ext cx="1828800" cy="1600200"/>
          </a:xfrm>
          <a:prstGeom prst="roundRect">
            <a:avLst/>
          </a:prstGeom>
          <a:solidFill>
            <a:srgbClr val="F7F7F8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41330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9D6A"/>
                </a:solidFill>
                <a:latin typeface="Yu Gothic UI"/>
              </a:rPr>
              <a:t>3. MVP実装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443484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Yu Gothic UI"/>
              </a:rPr>
              <a:t>掲示板まで完了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023360"/>
            <a:ext cx="1828800" cy="1600200"/>
          </a:xfrm>
          <a:prstGeom prst="roundRect">
            <a:avLst/>
          </a:prstGeom>
          <a:solidFill>
            <a:srgbClr val="F7F7F8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41330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9D6A"/>
                </a:solidFill>
                <a:latin typeface="Yu Gothic UI"/>
              </a:rPr>
              <a:t>4. 本番公開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43484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Yu Gothic UI"/>
              </a:rPr>
              <a:t>Vercel公開済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83880" y="4023360"/>
            <a:ext cx="1828800" cy="1600200"/>
          </a:xfrm>
          <a:prstGeom prst="roundRect">
            <a:avLst/>
          </a:prstGeom>
          <a:solidFill>
            <a:srgbClr val="F7F7F8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41330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83E8C"/>
                </a:solidFill>
                <a:latin typeface="Yu Gothic UI"/>
              </a:rPr>
              <a:t>5. 意見収集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43484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Yu Gothic UI"/>
              </a:rPr>
              <a:t>知人配布中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49840" y="4023360"/>
            <a:ext cx="1828800" cy="1600200"/>
          </a:xfrm>
          <a:prstGeom prst="roundRect">
            <a:avLst/>
          </a:prstGeom>
          <a:solidFill>
            <a:srgbClr val="F7F7F8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87000" y="41330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C5C5C"/>
                </a:solidFill>
                <a:latin typeface="Yu Gothic UI"/>
              </a:rPr>
              <a:t>6. TGS発表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7000" y="443484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Yu Gothic UI"/>
              </a:rPr>
              <a:t>改善して発表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806440"/>
            <a:ext cx="2212848" cy="310896"/>
          </a:xfrm>
          <a:prstGeom prst="round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F9D6A"/>
                </a:solidFill>
                <a:latin typeface="Yu Gothic UI"/>
              </a:rPr>
              <a:t>本番公開まで前倒し完了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825496" y="5806440"/>
            <a:ext cx="2615184" cy="310896"/>
          </a:xfrm>
          <a:prstGeom prst="roundRect">
            <a:avLst/>
          </a:prstGeom>
          <a:solidFill>
            <a:srgbClr val="FF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C2185B"/>
                </a:solidFill>
                <a:latin typeface="Yu Gothic UI"/>
              </a:rPr>
              <a:t>いま: 知人配布で意見獲得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550408" y="5806440"/>
            <a:ext cx="3017520" cy="310896"/>
          </a:xfrm>
          <a:prstGeom prst="roundRect">
            <a:avLst/>
          </a:prstGeom>
          <a:solidFill>
            <a:srgbClr val="FF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C2185B"/>
                </a:solidFill>
                <a:latin typeface="Yu Gothic UI"/>
              </a:rPr>
              <a:t>次: TGSまでに改善して発表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C5C5C"/>
                </a:solidFill>
                <a:latin typeface="Yu Gothic UI"/>
              </a:rPr>
              <a:t>Idolelic ピッチプレゼンテーション　　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