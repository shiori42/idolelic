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E83E8C"/>
                </a:solidFill>
                <a:latin typeface="Yu Gothic UI"/>
              </a:rPr>
              <a:t>01 / INTRODUCTION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02920"/>
            <a:ext cx="8229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A1A1A"/>
                </a:solidFill>
                <a:latin typeface="Yu Gothic UI"/>
              </a:rPr>
              <a:t>聖地巡礼をしながら健康になれる推し活アプリ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417320"/>
            <a:ext cx="65836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400" b="1">
                <a:solidFill>
                  <a:srgbClr val="1A1A1A"/>
                </a:solidFill>
                <a:latin typeface="Yu Gothic UI"/>
              </a:rPr>
              <a:t>✓ 推しへの熱量を歩行へ：</a:t>
            </a:r>
          </a:p>
          <a:p>
            <a:pPr>
              <a:spcAft>
                <a:spcPts val="1000"/>
              </a:spcAft>
            </a:pPr>
            <a:r>
              <a:rPr sz="1200" b="0">
                <a:solidFill>
                  <a:srgbClr val="5C5C5C"/>
                </a:solidFill>
                <a:latin typeface="Yu Gothic UI"/>
              </a:rPr>
              <a:t>楽しんでいるうちに自然と歩数が伸び、運動不足を解消する聖地巡礼マップアプリ。</a:t>
            </a:r>
          </a:p>
          <a:p>
            <a:pPr>
              <a:spcAft>
                <a:spcPts val="1400"/>
              </a:spcAft>
            </a:pPr>
            <a:r>
              <a:rPr sz="1400" b="1">
                <a:solidFill>
                  <a:srgbClr val="1A1A1A"/>
                </a:solidFill>
                <a:latin typeface="Yu Gothic UI"/>
              </a:rPr>
              <a:t>✓ コンセプトの進化：</a:t>
            </a:r>
          </a:p>
          <a:p>
            <a:pPr>
              <a:spcAft>
                <a:spcPts val="1000"/>
              </a:spcAft>
            </a:pPr>
            <a:r>
              <a:rPr sz="1200" b="0">
                <a:solidFill>
                  <a:srgbClr val="5C5C5C"/>
                </a:solidFill>
                <a:latin typeface="Yu Gothic UI"/>
              </a:rPr>
              <a:t>「今推し」だけでなく、時代を築いたアイドルの聖地を忘れないアーカイブとしても設計。</a:t>
            </a:r>
          </a:p>
          <a:p>
            <a:pPr>
              <a:spcAft>
                <a:spcPts val="1400"/>
              </a:spcAft>
            </a:pPr>
            <a:r>
              <a:rPr sz="1400" b="1">
                <a:solidFill>
                  <a:srgbClr val="1A1A1A"/>
                </a:solidFill>
                <a:latin typeface="Yu Gothic UI"/>
              </a:rPr>
              <a:t>✓ いま動いていること：</a:t>
            </a:r>
          </a:p>
          <a:p>
            <a:pPr>
              <a:spcAft>
                <a:spcPts val="1000"/>
              </a:spcAft>
            </a:pPr>
            <a:r>
              <a:rPr sz="1200" b="0">
                <a:solidFill>
                  <a:srgbClr val="5C5C5C"/>
                </a:solidFill>
                <a:latin typeface="Yu Gothic UI"/>
              </a:rPr>
              <a:t>公式聖地65件の地図、MV埋め込み再生、アプリ内ナビ＋歩数、Supabase認証・オーナー管理まで実装済み。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5029200"/>
            <a:ext cx="2816352" cy="310896"/>
          </a:xfrm>
          <a:prstGeom prst="roundRect">
            <a:avLst/>
          </a:prstGeom>
          <a:solidFill>
            <a:srgbClr val="FFF0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C2185B"/>
                </a:solidFill>
                <a:latin typeface="Yu Gothic UI"/>
              </a:rPr>
              <a:t>アプリ名: Idolelic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29000" y="5029200"/>
            <a:ext cx="3621024" cy="310896"/>
          </a:xfrm>
          <a:prstGeom prst="roundRect">
            <a:avLst/>
          </a:prstGeom>
          <a:solidFill>
            <a:srgbClr val="FFF0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C2185B"/>
                </a:solidFill>
                <a:latin typeface="Yu Gothic UI"/>
              </a:rPr>
              <a:t>旧称 / リポジトリ: osimap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59752" y="5029200"/>
            <a:ext cx="1609344" cy="310896"/>
          </a:xfrm>
          <a:prstGeom prst="roundRect">
            <a:avLst/>
          </a:prstGeom>
          <a:solidFill>
            <a:srgbClr val="E8F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1F9D6A"/>
                </a:solidFill>
                <a:latin typeface="Yu Gothic UI"/>
              </a:rPr>
              <a:t>MVP ほぼ完成</a:t>
            </a:r>
          </a:p>
        </p:txBody>
      </p:sp>
      <p:pic>
        <p:nvPicPr>
          <p:cNvPr id="8" name="Picture 7" descr="home-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1371600"/>
            <a:ext cx="4023360" cy="869995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589520" y="5806440"/>
            <a:ext cx="4023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C5C5C"/>
                </a:solidFill>
                <a:latin typeface="Yu Gothic UI"/>
              </a:rPr>
              <a:t>実機画面：聖地マップ（公式65件）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C5C5C"/>
                </a:solidFill>
                <a:latin typeface="Yu Gothic UI"/>
              </a:rPr>
              <a:t>Idolelic ピッチプレゼンテーション　　1 / 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E83E8C"/>
                </a:solidFill>
                <a:latin typeface="Yu Gothic UI"/>
              </a:rPr>
              <a:t>02 / PROBLEM &amp; TARGET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02920"/>
            <a:ext cx="8229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A1A1A"/>
                </a:solidFill>
                <a:latin typeface="Yu Gothic UI"/>
              </a:rPr>
              <a:t>オタクの不健康問題と、46兆円の壁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417320"/>
            <a:ext cx="640080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400" b="1">
                <a:solidFill>
                  <a:srgbClr val="1A1A1A"/>
                </a:solidFill>
                <a:latin typeface="Yu Gothic UI"/>
              </a:rPr>
              <a:t>✓ 深刻なオタクの運動不足：</a:t>
            </a:r>
          </a:p>
          <a:p>
            <a:pPr>
              <a:spcAft>
                <a:spcPts val="1000"/>
              </a:spcAft>
            </a:pPr>
            <a:r>
              <a:rPr sz="1200" b="0">
                <a:solidFill>
                  <a:srgbClr val="5C5C5C"/>
                </a:solidFill>
                <a:latin typeface="Yu Gothic UI"/>
              </a:rPr>
              <a:t>自宅での配信視聴など推し活の室内化により、生活習慣病リスクが高まっている。</a:t>
            </a:r>
          </a:p>
          <a:p>
            <a:pPr>
              <a:spcAft>
                <a:spcPts val="1400"/>
              </a:spcAft>
            </a:pPr>
            <a:r>
              <a:rPr sz="1400" b="1">
                <a:solidFill>
                  <a:srgbClr val="1A1A1A"/>
                </a:solidFill>
                <a:latin typeface="Yu Gothic UI"/>
              </a:rPr>
              <a:t>✓ 社会課題としての医療費：</a:t>
            </a:r>
          </a:p>
          <a:p>
            <a:pPr>
              <a:spcAft>
                <a:spcPts val="1000"/>
              </a:spcAft>
            </a:pPr>
            <a:r>
              <a:rPr sz="1200" b="0">
                <a:solidFill>
                  <a:srgbClr val="5C5C5C"/>
                </a:solidFill>
                <a:latin typeface="Yu Gothic UI"/>
              </a:rPr>
              <a:t>日本の年間国民医療費は約46兆円規模。予防医療・行動変容が急務。</a:t>
            </a:r>
          </a:p>
          <a:p>
            <a:pPr>
              <a:spcAft>
                <a:spcPts val="1400"/>
              </a:spcAft>
            </a:pPr>
            <a:r>
              <a:rPr sz="1400" b="1">
                <a:solidFill>
                  <a:srgbClr val="1A1A1A"/>
                </a:solidFill>
                <a:latin typeface="Yu Gothic UI"/>
              </a:rPr>
              <a:t>✓ 巡礼の手間：</a:t>
            </a:r>
          </a:p>
          <a:p>
            <a:pPr>
              <a:spcAft>
                <a:spcPts val="1000"/>
              </a:spcAft>
            </a:pPr>
            <a:r>
              <a:rPr sz="1200" b="0">
                <a:solidFill>
                  <a:srgbClr val="5C5C5C"/>
                </a:solidFill>
                <a:latin typeface="Yu Gothic UI"/>
              </a:rPr>
              <a:t>毎回サイトを横断し Google Maps に手作業でピン留めするハードルが高い。聖地情報が散逸しやすい。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5029200"/>
            <a:ext cx="2816352" cy="310896"/>
          </a:xfrm>
          <a:prstGeom prst="roundRect">
            <a:avLst/>
          </a:prstGeom>
          <a:solidFill>
            <a:srgbClr val="FFF0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C2185B"/>
                </a:solidFill>
                <a:latin typeface="Yu Gothic UI"/>
              </a:rPr>
              <a:t>⚠ 医療費抑制へのアプローチ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29000" y="5029200"/>
            <a:ext cx="2816352" cy="310896"/>
          </a:xfrm>
          <a:prstGeom prst="roundRect">
            <a:avLst/>
          </a:prstGeom>
          <a:solidFill>
            <a:srgbClr val="FFF0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C2185B"/>
                </a:solidFill>
                <a:latin typeface="Yu Gothic UI"/>
              </a:rPr>
              <a:t>聖地アーカイブ × 歩行習慣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0" y="1417320"/>
            <a:ext cx="4297680" cy="3840480"/>
          </a:xfrm>
          <a:prstGeom prst="roundRect">
            <a:avLst/>
          </a:prstGeom>
          <a:solidFill>
            <a:srgbClr val="FFF0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43800" y="1691640"/>
            <a:ext cx="3840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4000" b="1">
                <a:solidFill>
                  <a:srgbClr val="E83E8C"/>
                </a:solidFill>
                <a:latin typeface="Yu Gothic UI"/>
              </a:rPr>
              <a:t>46兆円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43800" y="2606040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C2185B"/>
                </a:solidFill>
                <a:latin typeface="Yu Gothic UI"/>
              </a:rPr>
              <a:t>日本の年間国民医療費（規模感）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43800" y="3108960"/>
            <a:ext cx="38404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0">
                <a:solidFill>
                  <a:srgbClr val="1A1A1A"/>
                </a:solidFill>
                <a:latin typeface="Yu Gothic UI"/>
              </a:rPr>
              <a:t>「推しに会いに行く」「お気に入りの場所を歩く」というオタク心理からアプローチする、画期的な行動変容。</a:t>
            </a:r>
          </a:p>
          <a:p>
            <a:pPr algn="l">
              <a:spcAft>
                <a:spcPts val="800"/>
              </a:spcAft>
            </a:pPr>
            <a:r>
              <a:rPr sz="1200" b="0">
                <a:solidFill>
                  <a:srgbClr val="1A1A1A"/>
                </a:solidFill>
                <a:latin typeface="Yu Gothic UI"/>
              </a:rPr>
              <a:t>Idolelic は“歩く理由”を聖地巡礼に置き、継続しやすい健康習慣をつくる。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C5C5C"/>
                </a:solidFill>
                <a:latin typeface="Yu Gothic UI"/>
              </a:rPr>
              <a:t>Idolelic ピッチプレゼンテーション　　2 / 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E83E8C"/>
                </a:solidFill>
                <a:latin typeface="Yu Gothic UI"/>
              </a:rPr>
              <a:t>03 / CORE TECHNOLOGY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02920"/>
            <a:ext cx="8229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A1A1A"/>
                </a:solidFill>
                <a:latin typeface="Yu Gothic UI"/>
              </a:rPr>
              <a:t>不正を排除する、判定ロジックの信頼性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417320"/>
            <a:ext cx="640080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400" b="1">
                <a:solidFill>
                  <a:srgbClr val="1A1A1A"/>
                </a:solidFill>
                <a:latin typeface="Yu Gothic UI"/>
              </a:rPr>
              <a:t>✓ 時速10km/h未満の制限：</a:t>
            </a:r>
          </a:p>
          <a:p>
            <a:pPr>
              <a:spcAft>
                <a:spcPts val="1000"/>
              </a:spcAft>
            </a:pPr>
            <a:r>
              <a:rPr sz="1200" b="0">
                <a:solidFill>
                  <a:srgbClr val="5C5C5C"/>
                </a:solidFill>
                <a:latin typeface="Yu Gothic UI"/>
              </a:rPr>
              <a:t>自転車・電車などの乗り物移動を検知し、有効歩数への加算をブロック。</a:t>
            </a:r>
          </a:p>
          <a:p>
            <a:pPr>
              <a:spcAft>
                <a:spcPts val="1400"/>
              </a:spcAft>
            </a:pPr>
            <a:r>
              <a:rPr sz="1400" b="1">
                <a:solidFill>
                  <a:srgbClr val="1A1A1A"/>
                </a:solidFill>
                <a:latin typeface="Yu Gothic UI"/>
              </a:rPr>
              <a:t>✓ 5区間移動平均の実装：</a:t>
            </a:r>
          </a:p>
          <a:p>
            <a:pPr>
              <a:spcAft>
                <a:spcPts val="1000"/>
              </a:spcAft>
            </a:pPr>
            <a:r>
              <a:rPr sz="1200" b="0">
                <a:solidFill>
                  <a:srgbClr val="5C5C5C"/>
                </a:solidFill>
                <a:latin typeface="Yu Gothic UI"/>
              </a:rPr>
              <a:t>GPSのジャンプノイズを除外し、安定した徒歩距離のみを計測。</a:t>
            </a:r>
          </a:p>
          <a:p>
            <a:pPr>
              <a:spcAft>
                <a:spcPts val="1400"/>
              </a:spcAft>
            </a:pPr>
            <a:r>
              <a:rPr sz="1400" b="1">
                <a:solidFill>
                  <a:srgbClr val="1A1A1A"/>
                </a:solidFill>
                <a:latin typeface="Yu Gothic UI"/>
              </a:rPr>
              <a:t>✓ 歩数×GPS整合チェック：</a:t>
            </a:r>
          </a:p>
          <a:p>
            <a:pPr>
              <a:spcAft>
                <a:spcPts val="1000"/>
              </a:spcAft>
            </a:pPr>
            <a:r>
              <a:rPr sz="1200" b="0">
                <a:solidFill>
                  <a:srgbClr val="5C5C5C"/>
                </a:solidFill>
                <a:latin typeface="Yu Gothic UI"/>
              </a:rPr>
              <a:t>加速度センサーの生歩数とGPS移動距離を照合。振り子疑い・乗り物時は除外／上限キャップ。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5029200"/>
            <a:ext cx="3017520" cy="310896"/>
          </a:xfrm>
          <a:prstGeom prst="roundRect">
            <a:avLst/>
          </a:prstGeom>
          <a:solidFill>
            <a:srgbClr val="E8F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1F9D6A"/>
                </a:solidFill>
                <a:latin typeface="Yu Gothic UI"/>
              </a:rPr>
              <a:t>単体テスト通過（Vitest）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30168" y="5029200"/>
            <a:ext cx="1810512" cy="310896"/>
          </a:xfrm>
          <a:prstGeom prst="roundRect">
            <a:avLst/>
          </a:prstGeom>
          <a:solidFill>
            <a:srgbClr val="FFF0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C2185B"/>
                </a:solidFill>
                <a:latin typeface="Yu Gothic UI"/>
              </a:rPr>
              <a:t>徒歩判定バリデータ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550408" y="5029200"/>
            <a:ext cx="2615184" cy="310896"/>
          </a:xfrm>
          <a:prstGeom prst="roundRect">
            <a:avLst/>
          </a:prstGeom>
          <a:solidFill>
            <a:srgbClr val="FFF0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C2185B"/>
                </a:solidFill>
                <a:latin typeface="Yu Gothic UI"/>
              </a:rPr>
              <a:t>実機 HTTPS 検証済み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0" y="1417320"/>
            <a:ext cx="4297680" cy="3657600"/>
          </a:xfrm>
          <a:prstGeom prst="round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43800" y="1600200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Yu Gothic UI"/>
              </a:rPr>
              <a:t>GPS Lab / 速度フィルタ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43800" y="2148840"/>
            <a:ext cx="38404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300" b="0">
                <a:solidFill>
                  <a:srgbClr val="FFFFFF"/>
                </a:solidFill>
                <a:latin typeface="Yu Gothic UI"/>
              </a:rPr>
              <a:t>閾値　　10 km/h 未満 = 徒歩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FFFFFF"/>
                </a:solidFill>
                <a:latin typeface="Yu Gothic UI"/>
              </a:rPr>
              <a:t>判定　　徒歩（有効）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FFFFFF"/>
                </a:solidFill>
                <a:latin typeface="Yu Gothic UI"/>
              </a:rPr>
              <a:t>瞬間速度　0.0 km/h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FFFFFF"/>
                </a:solidFill>
                <a:latin typeface="Yu Gothic UI"/>
              </a:rPr>
              <a:t>移動平均　0.0 km/h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FFFFFF"/>
                </a:solidFill>
                <a:latin typeface="Yu Gothic UI"/>
              </a:rPr>
              <a:t>生歩数 / 有効歩数　照合中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FFFFFF"/>
                </a:solidFill>
                <a:latin typeface="Yu Gothic UI"/>
              </a:rPr>
              <a:t>状態　　データ収集中…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C5C5C"/>
                </a:solidFill>
                <a:latin typeface="Yu Gothic UI"/>
              </a:rPr>
              <a:t>Idolelic ピッチプレゼンテーション　　3 / 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E83E8C"/>
                </a:solidFill>
                <a:latin typeface="Yu Gothic UI"/>
              </a:rPr>
              <a:t>04 / APPLICATION FEATURES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02920"/>
            <a:ext cx="8229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A1A1A"/>
                </a:solidFill>
                <a:latin typeface="Yu Gothic UI"/>
              </a:rPr>
              <a:t>オタクに寄り添う、実用的なUX設計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417320"/>
            <a:ext cx="64008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400" b="1">
                <a:solidFill>
                  <a:srgbClr val="1A1A1A"/>
                </a:solidFill>
                <a:latin typeface="Yu Gothic UI"/>
              </a:rPr>
              <a:t>✓ 実データ聖地マップ：</a:t>
            </a:r>
          </a:p>
          <a:p>
            <a:pPr>
              <a:spcAft>
                <a:spcPts val="1000"/>
              </a:spcAft>
            </a:pPr>
            <a:r>
              <a:rPr sz="1200" b="0">
                <a:solidFill>
                  <a:srgbClr val="5C5C5C"/>
                </a:solidFill>
                <a:latin typeface="Yu Gothic UI"/>
              </a:rPr>
              <a:t>12グループ・公式65件の MV ロケ地を登録。グループ／カテゴリ／地方フィルタ、YouTube MV 埋め込み再生。</a:t>
            </a:r>
          </a:p>
          <a:p>
            <a:pPr>
              <a:spcAft>
                <a:spcPts val="1400"/>
              </a:spcAft>
            </a:pPr>
            <a:r>
              <a:rPr sz="1400" b="1">
                <a:solidFill>
                  <a:srgbClr val="1A1A1A"/>
                </a:solidFill>
                <a:latin typeface="Yu Gothic UI"/>
              </a:rPr>
              <a:t>✓ 巡礼ナビと歩数：</a:t>
            </a:r>
          </a:p>
          <a:p>
            <a:pPr>
              <a:spcAft>
                <a:spcPts val="1000"/>
              </a:spcAft>
            </a:pPr>
            <a:r>
              <a:rPr sz="1200" b="0">
                <a:solidFill>
                  <a:srgbClr val="5C5C5C"/>
                </a:solidFill>
                <a:latin typeface="Yu Gothic UI"/>
              </a:rPr>
              <a:t>アプリ内徒歩ナビ（OSRM）と Google Maps 連携。GPS×加速度の有効歩数計測で歩きながら記録。</a:t>
            </a:r>
          </a:p>
          <a:p>
            <a:pPr>
              <a:spcAft>
                <a:spcPts val="1400"/>
              </a:spcAft>
            </a:pPr>
            <a:r>
              <a:rPr sz="1400" b="1">
                <a:solidFill>
                  <a:srgbClr val="1A1A1A"/>
                </a:solidFill>
                <a:latin typeface="Yu Gothic UI"/>
              </a:rPr>
              <a:t>✓ みんなで残す基盤：</a:t>
            </a:r>
          </a:p>
          <a:p>
            <a:pPr>
              <a:spcAft>
                <a:spcPts val="1000"/>
              </a:spcAft>
            </a:pPr>
            <a:r>
              <a:rPr sz="1200" b="0">
                <a:solidFill>
                  <a:srgbClr val="5C5C5C"/>
                </a:solidFill>
                <a:latin typeface="Yu Gothic UI"/>
              </a:rPr>
              <a:t>住所→座標のジオコーディング、Supabase 認証・聖地永続化、オーナーによるデータ管理画面。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5029200"/>
            <a:ext cx="1280160" cy="310896"/>
          </a:xfrm>
          <a:prstGeom prst="roundRect">
            <a:avLst/>
          </a:prstGeom>
          <a:solidFill>
            <a:srgbClr val="FFF0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C2185B"/>
                </a:solidFill>
                <a:latin typeface="Yu Gothic UI"/>
              </a:rPr>
              <a:t>MV埋め込み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92808" y="5029200"/>
            <a:ext cx="1280160" cy="310896"/>
          </a:xfrm>
          <a:prstGeom prst="roundRect">
            <a:avLst/>
          </a:prstGeom>
          <a:solidFill>
            <a:srgbClr val="FFF0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C2185B"/>
                </a:solidFill>
                <a:latin typeface="Yu Gothic UI"/>
              </a:rPr>
              <a:t>アプリ内ナビ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82696" y="5029200"/>
            <a:ext cx="1810512" cy="310896"/>
          </a:xfrm>
          <a:prstGeom prst="roundRect">
            <a:avLst/>
          </a:prstGeom>
          <a:solidFill>
            <a:srgbClr val="E8F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1F9D6A"/>
                </a:solidFill>
                <a:latin typeface="Yu Gothic UI"/>
              </a:rPr>
              <a:t>公式65件シード済</a:t>
            </a:r>
          </a:p>
        </p:txBody>
      </p:sp>
      <p:pic>
        <p:nvPicPr>
          <p:cNvPr id="8" name="Picture 7" descr="spot-deta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0" y="1325880"/>
            <a:ext cx="2148840" cy="4727448"/>
          </a:xfrm>
          <a:prstGeom prst="rect">
            <a:avLst/>
          </a:prstGeom>
        </p:spPr>
      </p:pic>
      <p:pic>
        <p:nvPicPr>
          <p:cNvPr id="9" name="Picture 8" descr="regis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92640" y="1325880"/>
            <a:ext cx="2148840" cy="466651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406640" y="5394960"/>
            <a:ext cx="2148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C5C5C"/>
                </a:solidFill>
                <a:latin typeface="Yu Gothic UI"/>
              </a:rPr>
              <a:t>聖地詳細・案内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92640" y="5394960"/>
            <a:ext cx="2148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C5C5C"/>
                </a:solidFill>
                <a:latin typeface="Yu Gothic UI"/>
              </a:rPr>
              <a:t>聖地登録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C5C5C"/>
                </a:solidFill>
                <a:latin typeface="Yu Gothic UI"/>
              </a:rPr>
              <a:t>Idolelic ピッチプレゼンテーション　　4 / 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E83E8C"/>
                </a:solidFill>
                <a:latin typeface="Yu Gothic UI"/>
              </a:rPr>
              <a:t>05 / PROGRESS &amp; TECH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02920"/>
            <a:ext cx="8229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A1A1A"/>
                </a:solidFill>
                <a:latin typeface="Yu Gothic UI"/>
              </a:rPr>
              <a:t>現在の進捗と、使用技術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71600"/>
            <a:ext cx="2468880" cy="2286000"/>
          </a:xfrm>
          <a:prstGeom prst="roundRect">
            <a:avLst/>
          </a:prstGeom>
          <a:solidFill>
            <a:srgbClr val="F7F7F8"/>
          </a:solidFill>
          <a:ln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481328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F9D6A"/>
                </a:solidFill>
                <a:latin typeface="Yu Gothic UI"/>
              </a:rPr>
              <a:t>完了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219456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Yu Gothic UI"/>
              </a:rPr>
              <a:t>・GPS・歩数コア／実機検証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Yu Gothic UI"/>
              </a:rPr>
              <a:t>・地図・詳細・MV埋め込み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Yu Gothic UI"/>
              </a:rPr>
              <a:t>・アプリ内ナビ／聖地登録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Yu Gothic UI"/>
              </a:rPr>
              <a:t>・Auth・公式65件・管理画面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108960" y="1371600"/>
            <a:ext cx="2468880" cy="2286000"/>
          </a:xfrm>
          <a:prstGeom prst="roundRect">
            <a:avLst/>
          </a:prstGeom>
          <a:solidFill>
            <a:srgbClr val="F7F7F8"/>
          </a:solidFill>
          <a:ln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46120" y="1481328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E83E8C"/>
                </a:solidFill>
                <a:latin typeface="Yu Gothic UI"/>
              </a:rPr>
              <a:t>直前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46120" y="1783080"/>
            <a:ext cx="219456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Yu Gothic UI"/>
              </a:rPr>
              <a:t>・Vercel 本番デプロイ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Yu Gothic UI"/>
              </a:rPr>
              <a:t>・本番 URL の Auth 設定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Yu Gothic UI"/>
              </a:rPr>
              <a:t>・通しスモークテスト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715000" y="1371600"/>
            <a:ext cx="2468880" cy="2286000"/>
          </a:xfrm>
          <a:prstGeom prst="roundRect">
            <a:avLst/>
          </a:prstGeom>
          <a:solidFill>
            <a:srgbClr val="F7F7F8"/>
          </a:solidFill>
          <a:ln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160" y="1481328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2185B"/>
                </a:solidFill>
                <a:latin typeface="Yu Gothic UI"/>
              </a:rPr>
              <a:t>夏休み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0" y="1783080"/>
            <a:ext cx="219456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Yu Gothic UI"/>
              </a:rPr>
              <a:t>・一般公開・運用開始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Yu Gothic UI"/>
              </a:rPr>
              <a:t>・ユーザー獲得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Yu Gothic UI"/>
              </a:rPr>
              <a:t>・掲示板DBなど拡張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3840480"/>
            <a:ext cx="3749039" cy="1828800"/>
          </a:xfrm>
          <a:prstGeom prst="roundRect">
            <a:avLst/>
          </a:prstGeom>
          <a:solidFill>
            <a:srgbClr val="F7F7F8"/>
          </a:solidFill>
          <a:ln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3950208"/>
            <a:ext cx="347471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E83E8C"/>
                </a:solidFill>
                <a:latin typeface="Yu Gothic UI"/>
              </a:rPr>
              <a:t>Tech Stack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251960"/>
            <a:ext cx="3474719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Yu Gothic UI"/>
              </a:rPr>
              <a:t>Next.js 16 / React 19 — App Router・API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Yu Gothic UI"/>
              </a:rPr>
              <a:t>Supabase / Leaflet — Auth・聖地DB・地図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Yu Gothic UI"/>
              </a:rPr>
              <a:t>Geolocation / 加速度 — 歩数照合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Yu Gothic UI"/>
              </a:rPr>
              <a:t>OSRM / YouTube / Vitest — ナビ・MV・テスト</a:t>
            </a:r>
          </a:p>
        </p:txBody>
      </p:sp>
      <p:pic>
        <p:nvPicPr>
          <p:cNvPr id="16" name="Picture 15" descr="myp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1371600"/>
            <a:ext cx="3291840" cy="721482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8321040" y="580644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C5C5C"/>
                </a:solidFill>
                <a:latin typeface="Yu Gothic UI"/>
              </a:rPr>
              <a:t>実機画面：マイページ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C5C5C"/>
                </a:solidFill>
                <a:latin typeface="Yu Gothic UI"/>
              </a:rPr>
              <a:t>Idolelic ピッチプレゼンテーション　　5 /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E83E8C"/>
                </a:solidFill>
                <a:latin typeface="Yu Gothic UI"/>
              </a:rPr>
              <a:t>06 / PERFORMANCE &amp; 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02920"/>
            <a:ext cx="8229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A1A1A"/>
                </a:solidFill>
                <a:latin typeface="Yu Gothic UI"/>
              </a:rPr>
              <a:t>MVPは実装完了目前。次は本番公開でトラクション獲得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1554480"/>
            <a:ext cx="2148840" cy="2926080"/>
          </a:xfrm>
          <a:prstGeom prst="roundRect">
            <a:avLst/>
          </a:prstGeom>
          <a:solidFill>
            <a:srgbClr val="F7F7F8"/>
          </a:solidFill>
          <a:ln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664208"/>
            <a:ext cx="1874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F9D6A"/>
                </a:solidFill>
                <a:latin typeface="Yu Gothic UI"/>
              </a:rPr>
              <a:t>1. 機能追加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874520" cy="2423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Yu Gothic UI"/>
              </a:rPr>
              <a:t>コア歩数計＆マップの基本実装完了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97480" y="1554480"/>
            <a:ext cx="2148840" cy="2926080"/>
          </a:xfrm>
          <a:prstGeom prst="roundRect">
            <a:avLst/>
          </a:prstGeom>
          <a:solidFill>
            <a:srgbClr val="F7F7F8"/>
          </a:solidFill>
          <a:ln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834640" y="1664208"/>
            <a:ext cx="1874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F9D6A"/>
                </a:solidFill>
                <a:latin typeface="Yu Gothic UI"/>
              </a:rPr>
              <a:t>2. 実機検証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34640" y="1965960"/>
            <a:ext cx="1874520" cy="2423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Yu Gothic UI"/>
              </a:rPr>
              <a:t>HTTPSでGPS/歩数ログ確認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983480" y="1554480"/>
            <a:ext cx="2148840" cy="2926080"/>
          </a:xfrm>
          <a:prstGeom prst="roundRect">
            <a:avLst/>
          </a:prstGeom>
          <a:solidFill>
            <a:srgbClr val="F7F7F8"/>
          </a:solidFill>
          <a:ln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20640" y="1664208"/>
            <a:ext cx="1874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F9D6A"/>
                </a:solidFill>
                <a:latin typeface="Yu Gothic UI"/>
              </a:rPr>
              <a:t>3. MVP実装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20640" y="1965960"/>
            <a:ext cx="1874520" cy="2423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Yu Gothic UI"/>
              </a:rPr>
              <a:t>聖地65件・MV・ナビ・Auth・管理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269480" y="1554480"/>
            <a:ext cx="2148840" cy="2926080"/>
          </a:xfrm>
          <a:prstGeom prst="roundRect">
            <a:avLst/>
          </a:prstGeom>
          <a:solidFill>
            <a:srgbClr val="F7F7F8"/>
          </a:solidFill>
          <a:ln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06640" y="1664208"/>
            <a:ext cx="1874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E83E8C"/>
                </a:solidFill>
                <a:latin typeface="Yu Gothic UI"/>
              </a:rPr>
              <a:t>4. 本番公開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06640" y="1965960"/>
            <a:ext cx="1874520" cy="2423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Yu Gothic UI"/>
              </a:rPr>
              <a:t>Vercelデプロイと通し確認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555480" y="1554480"/>
            <a:ext cx="2148840" cy="2926080"/>
          </a:xfrm>
          <a:prstGeom prst="roundRect">
            <a:avLst/>
          </a:prstGeom>
          <a:solidFill>
            <a:srgbClr val="F7F7F8"/>
          </a:solidFill>
          <a:ln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92640" y="1664208"/>
            <a:ext cx="1874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E83E8C"/>
                </a:solidFill>
                <a:latin typeface="Yu Gothic UI"/>
              </a:rPr>
              <a:t>5. 夏休み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92640" y="1965960"/>
            <a:ext cx="1874520" cy="2423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Yu Gothic UI"/>
              </a:rPr>
              <a:t>トラクション獲得・掲示板DB等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4937760"/>
            <a:ext cx="2212848" cy="310896"/>
          </a:xfrm>
          <a:prstGeom prst="roundRect">
            <a:avLst/>
          </a:prstGeom>
          <a:solidFill>
            <a:srgbClr val="E8F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1F9D6A"/>
                </a:solidFill>
                <a:latin typeface="Yu Gothic UI"/>
              </a:rPr>
              <a:t>コア〜MVP機能 完了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825496" y="4937760"/>
            <a:ext cx="2414016" cy="310896"/>
          </a:xfrm>
          <a:prstGeom prst="roundRect">
            <a:avLst/>
          </a:prstGeom>
          <a:solidFill>
            <a:srgbClr val="FFF0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C2185B"/>
                </a:solidFill>
                <a:latin typeface="Yu Gothic UI"/>
              </a:rPr>
              <a:t>いま: Vercel公開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349240" y="4937760"/>
            <a:ext cx="2615184" cy="310896"/>
          </a:xfrm>
          <a:prstGeom prst="roundRect">
            <a:avLst/>
          </a:prstGeom>
          <a:solidFill>
            <a:srgbClr val="FFF0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C2185B"/>
                </a:solidFill>
                <a:latin typeface="Yu Gothic UI"/>
              </a:rPr>
              <a:t>夏休み: トラクション獲得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56692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2185B"/>
                </a:solidFill>
                <a:latin typeface="Yu Gothic UI"/>
              </a:rPr>
              <a:t>デモURL: https://idolelic.vercel.app/home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C5C5C"/>
                </a:solidFill>
                <a:latin typeface="Yu Gothic UI"/>
              </a:rPr>
              <a:t>Idolelic ピッチプレゼンテーション　　6 / 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